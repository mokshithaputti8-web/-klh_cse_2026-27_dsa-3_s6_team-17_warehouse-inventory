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9" r:id="rId18"/>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262626"/>
                </a:solidFill>
              </a:rPr>
              <a:t>Time on 10,000,000 rows (seconds, lower is better)</a:t>
            </a:r>
          </a:p>
        </c:rich>
      </c:tx>
      <c:layout/>
      <c:overlay val="0"/>
    </c:title>
    <c:autoTitleDeleted val="0"/>
    <c:plotArea>
      <c:barChart>
        <c:barDir val="bar"/>
        <c:grouping val="clustered"/>
        <c:ser>
          <c:idx val="0"/>
          <c:order val="0"/>
          <c:tx>
            <c:strRef>
              <c:f>Sheet1!$B$1</c:f>
              <c:strCache>
                <c:ptCount val="1"/>
                <c:pt idx="0">
                  <c:v>Time (seconds)</c:v>
                </c:pt>
              </c:strCache>
            </c:strRef>
          </c:tx>
          <c:spPr>
            <a:solidFill>
              <a:srgbClr val="C00000"/>
            </a:solidFill>
          </c:spPr>
          <c:cat>
            <c:strRef>
              <c:f>Sheet1!$A$2:$A$7</c:f>
              <c:strCache>
                <c:ptCount val="6"/>
                <c:pt idx="0">
                  <c:v>Generate dataset</c:v>
                </c:pt>
                <c:pt idx="1">
                  <c:v>Rabin-Karp search</c:v>
                </c:pt>
                <c:pt idx="2">
                  <c:v>Parallel aggregation</c:v>
                </c:pt>
                <c:pt idx="3">
                  <c:v>KMP search</c:v>
                </c:pt>
                <c:pt idx="4">
                  <c:v>Percentiles (quickselect)</c:v>
                </c:pt>
                <c:pt idx="5">
                  <c:v>Reservoir sample</c:v>
                </c:pt>
              </c:strCache>
            </c:strRef>
          </c:cat>
          <c:val>
            <c:numRef>
              <c:f>Sheet1!$B$2:$B$7</c:f>
              <c:numCache>
                <c:formatCode>General</c:formatCode>
                <c:ptCount val="6"/>
                <c:pt idx="0">
                  <c:v>8</c:v>
                </c:pt>
                <c:pt idx="1">
                  <c:v>6.3</c:v>
                </c:pt>
                <c:pt idx="2">
                  <c:v>5.7</c:v>
                </c:pt>
                <c:pt idx="3">
                  <c:v>3.1</c:v>
                </c:pt>
                <c:pt idx="4">
                  <c:v>2.6</c:v>
                </c:pt>
                <c:pt idx="5">
                  <c:v>1.2</c:v>
                </c:pt>
              </c:numCache>
            </c:numRef>
          </c:val>
        </c:ser>
        <c:dLbls>
          <c:numFmt formatCode="0.0&quot; s&quot;" sourceLinked="0"/>
          <c:txPr>
            <a:bodyPr/>
            <a:lstStyle/>
            <a:p>
              <a:pPr>
                <a:defRPr sz="1200">
                  <a:solidFill>
                    <a:srgbClr val="262626"/>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BFBFBF"/>
            </a:solidFill>
          </a:ln>
        </c:spPr>
        <c:txPr>
          <a:bodyPr/>
          <a:lstStyle/>
          <a:p>
            <a:pPr>
              <a:defRPr sz="1200"/>
            </a:pPr>
          </a:p>
        </c:txPr>
        <c:crossAx val="-2113994440"/>
        <c:crosses val="autoZero"/>
        <c:auto val="1"/>
        <c:lblAlgn val="ctr"/>
        <c:lblOffset val="100"/>
        <c:noMultiLvlLbl val="0"/>
      </c:catAx>
      <c:valAx>
        <c:axId val="-2113994440"/>
        <c:scaling>
          <c:max val="10.0"/>
          <c:min val="0.0"/>
        </c:scaling>
        <c:delete/>
        <c:axPos val="b"/>
        <c:majorTickMark val="out"/>
        <c:minorTickMark val="none"/>
        <c:tickLblPos val="nextTo"/>
        <c:crossAx val="-2068027336"/>
        <c:crosses val="autoZero"/>
      </c:valAx>
    </c:plotArea>
    <c:dispBlanksAs val="gap"/>
  </c:chart>
  <c:spPr>
    <a:solidFill>
      <a:srgbClr val="FFFFFF"/>
    </a:solidFill>
    <a:ln w="12700">
      <a:solidFill>
        <a:srgbClr val="E6C3C3"/>
      </a:solidFill>
    </a:ln>
  </c:spPr>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8/20/2026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b="1" dirty="0">
                <a:solidFill>
                  <a:srgbClr val="C00000"/>
                </a:solidFill>
                <a:latin typeface="+mn-lt"/>
              </a:rPr>
              <a:t/>
            </a:r>
            <a:br>
              <a:rPr lang="en-US"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4000" b="1" dirty="0" smtClean="0">
                <a:solidFill>
                  <a:srgbClr val="C00000"/>
                </a:solidFill>
                <a:latin typeface="+mn-lt"/>
              </a:rPr>
              <a:t>Data Structures and Algorithms -3 (25CS2103E)</a:t>
            </a:r>
            <a:r>
              <a:rPr lang="en-US" sz="4000" b="1" dirty="0">
                <a:solidFill>
                  <a:srgbClr val="C00000"/>
                </a:solidFill>
                <a:latin typeface="+mn-lt"/>
              </a:rPr>
              <a:t/>
            </a:r>
            <a:br>
              <a:rPr lang="en-US" sz="4000" b="1" dirty="0">
                <a:solidFill>
                  <a:srgbClr val="C00000"/>
                </a:solidFill>
                <a:latin typeface="+mn-lt"/>
              </a:rPr>
            </a:br>
            <a:r>
              <a:rPr lang="en-US" sz="4000" b="1" dirty="0">
                <a:solidFill>
                  <a:srgbClr val="C00000"/>
                </a:solidFill>
                <a:latin typeface="+mn-lt"/>
              </a:rPr>
              <a:t/>
            </a:r>
            <a:br>
              <a:rPr lang="en-US" sz="4000" b="1" dirty="0">
                <a:solidFill>
                  <a:srgbClr val="C00000"/>
                </a:solidFill>
                <a:latin typeface="+mn-lt"/>
              </a:rPr>
            </a:br>
            <a:r>
              <a:rPr lang="en-US" sz="3200" b="1" dirty="0">
                <a:solidFill>
                  <a:srgbClr val="C00000"/>
                </a:solidFill>
                <a:latin typeface="+mn-lt"/>
              </a:rPr>
              <a:t>Warehouse Inventory Management and Optimization System</a:t>
            </a: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p>
          <a:p>
            <a:r>
              <a:rPr lang="en-US" dirty="0">
                <a:solidFill>
                  <a:srgbClr val="0070C0"/>
                </a:solidFill>
              </a:rPr>
              <a:t>Mokshitha - 2520030396</a:t>
            </a:r>
          </a:p>
          <a:p>
            <a:r>
              <a:rPr lang="en-US" dirty="0">
                <a:solidFill>
                  <a:srgbClr val="0070C0"/>
                </a:solidFill>
              </a:rPr>
              <a:t>Abhishiktha - 2520030185</a:t>
            </a: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Dr. V. Sireesha, Professor</a:t>
            </a:r>
            <a:r>
              <a:rPr lang="en-US" sz="1800" b="1" kern="0" dirty="0" smtClean="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a: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101" name="Abstract text 101"/>
          <p:cNvSpPr txBox="1"/>
          <p:nvPr/>
        </p:nvSpPr>
        <p:spPr>
          <a:xfrm>
            <a:off x="3200000" y="1550000"/>
            <a:ext cx="8000000" cy="4700000"/>
          </a:xfrm>
          <a:prstGeom prst="rect">
            <a:avLst/>
          </a:prstGeom>
          <a:noFill/>
          <a:ln>
            <a:noFill/>
          </a:ln>
        </p:spPr>
        <p:txBody>
          <a:bodyPr wrap="square" lIns="0" tIns="0" rIns="0" bIns="0" rtlCol="0" anchor="t">
            <a:noAutofit/>
          </a:bodyPr>
          <a:lstStyle/>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Warehouses keep stock in many places, and checking it by hand is slow and leads to mistakes.</a:t>
            </a:r>
          </a:p>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We made a warehouse inventory system in Java. It has a web page and a terminal menu.</a:t>
            </a:r>
          </a:p>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It uses topics from our DSA-3 course: string searching, dynamic programming, max flow, greedy and randomized algorithms.</a:t>
            </a:r>
          </a:p>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Data is stored in CSV files. We tested it on 2,804 stock records and on a file with 10 million rows.</a:t>
            </a:r>
          </a:p>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All 23 of our tests passed.</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101" name="Intro text 101"/>
          <p:cNvSpPr txBox="1"/>
          <p:nvPr/>
        </p:nvSpPr>
        <p:spPr>
          <a:xfrm>
            <a:off x="3200000" y="1550000"/>
            <a:ext cx="8000000" cy="2000000"/>
          </a:xfrm>
          <a:prstGeom prst="rect">
            <a:avLst/>
          </a:prstGeom>
          <a:noFill/>
          <a:ln>
            <a:noFill/>
          </a:ln>
        </p:spPr>
        <p:txBody>
          <a:bodyPr wrap="square" lIns="0" tIns="0" rIns="0" bIns="0" rtlCol="0" anchor="t">
            <a:noAutofit/>
          </a:bodyPr>
          <a:lstStyle/>
          <a:p>
            <a:pPr marL="285750" indent="-285750" algn="l">
              <a:lnSpc>
                <a:spcPct val="100000"/>
              </a:lnSpc>
              <a:spcBef>
                <a:spcPts val="0"/>
              </a:spcBef>
              <a:spcAft>
                <a:spcPts val="700"/>
              </a:spcAft>
              <a:buClr>
                <a:srgbClr val="262626"/>
              </a:buClr>
              <a:buFont typeface="Arial"/>
              <a:buChar char="•"/>
            </a:pPr>
            <a:r>
              <a:rPr lang="en-US" sz="2000" b="0" i="0" dirty="0">
                <a:solidFill>
                  <a:srgbClr val="262626"/>
                </a:solidFill>
                <a:latin typeface="+mn-lt"/>
              </a:rPr>
              <a:t>A company with many warehouses has to search products, reorder stock, move stock between places and check counts.</a:t>
            </a:r>
          </a:p>
          <a:p>
            <a:pPr marL="285750" indent="-285750" algn="l">
              <a:lnSpc>
                <a:spcPct val="100000"/>
              </a:lnSpc>
              <a:spcBef>
                <a:spcPts val="0"/>
              </a:spcBef>
              <a:spcAft>
                <a:spcPts val="700"/>
              </a:spcAft>
              <a:buClr>
                <a:srgbClr val="262626"/>
              </a:buClr>
              <a:buFont typeface="Arial"/>
              <a:buChar char="•"/>
            </a:pPr>
            <a:r>
              <a:rPr lang="en-US" sz="2000" b="0" i="0" dirty="0">
                <a:solidFill>
                  <a:srgbClr val="262626"/>
                </a:solidFill>
                <a:latin typeface="+mn-lt"/>
              </a:rPr>
              <a:t>Doing this by hand or in Excel gets slow when the data is big.</a:t>
            </a:r>
          </a:p>
          <a:p>
            <a:pPr marL="285750" indent="-285750" algn="l">
              <a:lnSpc>
                <a:spcPct val="100000"/>
              </a:lnSpc>
              <a:spcBef>
                <a:spcPts val="0"/>
              </a:spcBef>
              <a:spcAft>
                <a:spcPts val="700"/>
              </a:spcAft>
              <a:buClr>
                <a:srgbClr val="262626"/>
              </a:buClr>
              <a:buFont typeface="Arial"/>
              <a:buChar char="•"/>
            </a:pPr>
            <a:r>
              <a:rPr lang="en-US" sz="2000" b="0" i="0" dirty="0">
                <a:solidFill>
                  <a:srgbClr val="262626"/>
                </a:solidFill>
                <a:latin typeface="+mn-lt"/>
              </a:rPr>
              <a:t>We turned each of these jobs into an algorithm problem. The project has 6 modules:</a:t>
            </a:r>
          </a:p>
        </p:txBody>
      </p:sp>
      <p:graphicFrame>
        <p:nvGraphicFramePr>
          <p:cNvPr id="102" name="Module table 102"/>
          <p:cNvGraphicFramePr>
            <a:graphicFrameLocks noGrp="1"/>
          </p:cNvGraphicFramePr>
          <p:nvPr/>
        </p:nvGraphicFramePr>
        <p:xfrm>
          <a:off x="3200000" y="3550000"/>
          <a:ext cx="8000000" cy="3010000"/>
        </p:xfrm>
        <a:graphic>
          <a:graphicData uri="http://schemas.openxmlformats.org/drawingml/2006/table">
            <a:tbl>
              <a:tblPr firstRow="1" bandRow="1"/>
              <a:tblGrid>
                <a:gridCol w="900000"/>
                <a:gridCol w="3400000"/>
                <a:gridCol w="3700000"/>
              </a:tblGrid>
              <a:tr h="430000">
                <a:tc>
                  <a:txBody>
                    <a:bodyPr/>
                    <a:lstStyle/>
                    <a:p>
                      <a:pPr algn="l"/>
                      <a:r>
                        <a:rPr lang="en-US" sz="1400" b="1" i="0" dirty="0">
                          <a:solidFill>
                            <a:srgbClr val="FFFFFF"/>
                          </a:solidFill>
                          <a:latin typeface="+mn-lt"/>
                        </a:rPr>
                        <a:t>Module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a:lstStyle/>
                    <a:p>
                      <a:pPr algn="l"/>
                      <a:r>
                        <a:rPr lang="en-US" sz="1400" b="1" i="0" dirty="0">
                          <a:solidFill>
                            <a:srgbClr val="FFFFFF"/>
                          </a:solidFill>
                          <a:latin typeface="+mn-lt"/>
                        </a:rPr>
                        <a:t>Algorithms used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a:lstStyle/>
                    <a:p>
                      <a:pPr algn="l"/>
                      <a:r>
                        <a:rPr lang="en-US" sz="1400" b="1" i="0" dirty="0">
                          <a:solidFill>
                            <a:srgbClr val="FFFFFF"/>
                          </a:solidFill>
                          <a:latin typeface="+mn-lt"/>
                        </a:rPr>
                        <a:t>What it does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r>
              <a:tr h="430000">
                <a:tc>
                  <a:txBody>
                    <a:bodyPr/>
                    <a:lstStyle/>
                    <a:p>
                      <a:pPr algn="l"/>
                      <a:r>
                        <a:rPr lang="en-US" sz="1400" b="1" i="0" dirty="0">
                          <a:solidFill>
                            <a:srgbClr val="262626"/>
                          </a:solidFill>
                          <a:latin typeface="+mn-lt"/>
                        </a:rPr>
                        <a:t>M1</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Aho-Corasick, edit distance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Search with spelling mistakes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430000">
                <a:tc>
                  <a:txBody>
                    <a:bodyPr/>
                    <a:lstStyle/>
                    <a:p>
                      <a:pPr algn="l"/>
                      <a:r>
                        <a:rPr lang="en-US" sz="1400" b="1" i="0" dirty="0">
                          <a:solidFill>
                            <a:srgbClr val="262626"/>
                          </a:solidFill>
                          <a:latin typeface="+mn-lt"/>
                        </a:rPr>
                        <a:t>M2</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400" b="0" i="0" dirty="0">
                          <a:solidFill>
                            <a:srgbClr val="262626"/>
                          </a:solidFill>
                          <a:latin typeface="+mn-lt"/>
                        </a:rPr>
                        <a:t>KMP, Z, Rabin-Karp, suffix array</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400" b="0" i="0" dirty="0">
                          <a:solidFill>
                            <a:srgbClr val="262626"/>
                          </a:solidFill>
                          <a:latin typeface="+mn-lt"/>
                        </a:rPr>
                        <a:t>String matching</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r>
              <a:tr h="430000">
                <a:tc>
                  <a:txBody>
                    <a:bodyPr/>
                    <a:lstStyle/>
                    <a:p>
                      <a:pPr algn="l"/>
                      <a:r>
                        <a:rPr lang="en-US" sz="1400" b="1" i="0" dirty="0">
                          <a:solidFill>
                            <a:srgbClr val="262626"/>
                          </a:solidFill>
                          <a:latin typeface="+mn-lt"/>
                        </a:rPr>
                        <a:t>M3</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Edit distance, 0/1 knapsack</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Restock within a budget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430000">
                <a:tc>
                  <a:txBody>
                    <a:bodyPr/>
                    <a:lstStyle/>
                    <a:p>
                      <a:pPr algn="l"/>
                      <a:r>
                        <a:rPr lang="en-US" sz="1400" b="1" i="0" dirty="0">
                          <a:solidFill>
                            <a:srgbClr val="262626"/>
                          </a:solidFill>
                          <a:latin typeface="+mn-lt"/>
                        </a:rPr>
                        <a:t>M4</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400" b="0" i="0" dirty="0">
                          <a:solidFill>
                            <a:srgbClr val="262626"/>
                          </a:solidFill>
                          <a:latin typeface="+mn-lt"/>
                        </a:rPr>
                        <a:t>Max flow (Edmonds-Karp)</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400" b="0" i="0" dirty="0">
                          <a:solidFill>
                            <a:srgbClr val="262626"/>
                          </a:solidFill>
                          <a:latin typeface="+mn-lt"/>
                        </a:rPr>
                        <a:t>Move stock between warehouses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r>
              <a:tr h="430000">
                <a:tc>
                  <a:txBody>
                    <a:bodyPr/>
                    <a:lstStyle/>
                    <a:p>
                      <a:pPr algn="l"/>
                      <a:r>
                        <a:rPr lang="en-US" sz="1400" b="1" i="0" dirty="0">
                          <a:solidFill>
                            <a:srgbClr val="262626"/>
                          </a:solidFill>
                          <a:latin typeface="+mn-lt"/>
                        </a:rPr>
                        <a:t>M5</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Greedy set cover</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Risk ranking, choose suppliers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430000">
                <a:tc>
                  <a:txBody>
                    <a:bodyPr/>
                    <a:lstStyle/>
                    <a:p>
                      <a:pPr algn="l"/>
                      <a:r>
                        <a:rPr lang="en-US" sz="1400" b="1" i="0" dirty="0">
                          <a:solidFill>
                            <a:srgbClr val="262626"/>
                          </a:solidFill>
                          <a:latin typeface="+mn-lt"/>
                        </a:rPr>
                        <a:t>M6</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400" b="0" i="0" dirty="0">
                          <a:solidFill>
                            <a:srgbClr val="262626"/>
                          </a:solidFill>
                          <a:latin typeface="+mn-lt"/>
                        </a:rPr>
                        <a:t>Reservoir sampling, quickselect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400" b="0" i="0" dirty="0">
                          <a:solidFill>
                            <a:srgbClr val="262626"/>
                          </a:solidFill>
                          <a:latin typeface="+mn-lt"/>
                        </a:rPr>
                        <a:t>Cycle counts, big file analysis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101" name="Literature table 101"/>
          <p:cNvGraphicFramePr>
            <a:graphicFrameLocks noGrp="1"/>
          </p:cNvGraphicFramePr>
          <p:nvPr/>
        </p:nvGraphicFramePr>
        <p:xfrm>
          <a:off x="1000000" y="1050000"/>
          <a:ext cx="10250000" cy="5200000"/>
        </p:xfrm>
        <a:graphic>
          <a:graphicData uri="http://schemas.openxmlformats.org/drawingml/2006/table">
            <a:tbl>
              <a:tblPr firstRow="1" bandRow="1"/>
              <a:tblGrid>
                <a:gridCol w="2850000"/>
                <a:gridCol w="4300000"/>
                <a:gridCol w="3100000"/>
              </a:tblGrid>
              <a:tr h="520000">
                <a:tc>
                  <a:txBody>
                    <a:bodyPr/>
                    <a:lstStyle/>
                    <a:p>
                      <a:pPr algn="l"/>
                      <a:r>
                        <a:rPr lang="en-US" sz="1400" b="1" i="0" dirty="0">
                          <a:solidFill>
                            <a:srgbClr val="FFFFFF"/>
                          </a:solidFill>
                          <a:latin typeface="+mn-lt"/>
                        </a:rPr>
                        <a:t>Algorithm</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a:lstStyle/>
                    <a:p>
                      <a:pPr algn="l"/>
                      <a:r>
                        <a:rPr lang="en-US" sz="1400" b="1" i="0" dirty="0">
                          <a:solidFill>
                            <a:srgbClr val="FFFFFF"/>
                          </a:solidFill>
                          <a:latin typeface="+mn-lt"/>
                        </a:rPr>
                        <a:t>Reference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a:lstStyle/>
                    <a:p>
                      <a:pPr algn="l"/>
                      <a:r>
                        <a:rPr lang="en-US" sz="1400" b="1" i="0" dirty="0">
                          <a:solidFill>
                            <a:srgbClr val="FFFFFF"/>
                          </a:solidFill>
                          <a:latin typeface="+mn-lt"/>
                        </a:rPr>
                        <a:t>Where we used it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r>
              <a:tr h="520000">
                <a:tc>
                  <a:txBody>
                    <a:bodyPr/>
                    <a:lstStyle/>
                    <a:p>
                      <a:pPr algn="l"/>
                      <a:r>
                        <a:rPr lang="en-US" sz="1400" b="1" i="0" dirty="0">
                          <a:solidFill>
                            <a:srgbClr val="262626"/>
                          </a:solidFill>
                          <a:latin typeface="+mn-lt"/>
                        </a:rPr>
                        <a:t>Knuth-Morris-Pratt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Knuth, Morris, Pratt (1977)</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Phrase search</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520000">
                <a:tc>
                  <a:txBody>
                    <a:bodyPr/>
                    <a:lstStyle/>
                    <a:p>
                      <a:pPr algn="l"/>
                      <a:r>
                        <a:rPr lang="en-US" sz="1400" b="1" i="0" dirty="0">
                          <a:solidFill>
                            <a:srgbClr val="262626"/>
                          </a:solidFill>
                          <a:latin typeface="+mn-lt"/>
                        </a:rPr>
                        <a:t>Aho-Corasick</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400" b="0" i="0" dirty="0">
                          <a:solidFill>
                            <a:srgbClr val="262626"/>
                          </a:solidFill>
                          <a:latin typeface="+mn-lt"/>
                        </a:rPr>
                        <a:t>Aho, Corasick (1975)</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400" b="0" i="0" dirty="0">
                          <a:solidFill>
                            <a:srgbClr val="262626"/>
                          </a:solidFill>
                          <a:latin typeface="+mn-lt"/>
                        </a:rPr>
                        <a:t>Search many words at once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r>
              <a:tr h="520000">
                <a:tc>
                  <a:txBody>
                    <a:bodyPr/>
                    <a:lstStyle/>
                    <a:p>
                      <a:pPr algn="l"/>
                      <a:r>
                        <a:rPr lang="en-US" sz="1400" b="1" i="0" dirty="0">
                          <a:solidFill>
                            <a:srgbClr val="262626"/>
                          </a:solidFill>
                          <a:latin typeface="+mn-lt"/>
                        </a:rPr>
                        <a:t>Rabin-Karp</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Karp, Rabin (1987)</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Search in the large file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520000">
                <a:tc>
                  <a:txBody>
                    <a:bodyPr/>
                    <a:lstStyle/>
                    <a:p>
                      <a:pPr algn="l"/>
                      <a:r>
                        <a:rPr lang="en-US" sz="1400" b="1" i="0" dirty="0">
                          <a:solidFill>
                            <a:srgbClr val="262626"/>
                          </a:solidFill>
                          <a:latin typeface="+mn-lt"/>
                        </a:rPr>
                        <a:t>Suffix array and LCP</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400" b="0" i="0" dirty="0">
                          <a:solidFill>
                            <a:srgbClr val="262626"/>
                          </a:solidFill>
                          <a:latin typeface="+mn-lt"/>
                        </a:rPr>
                        <a:t>Manber, Myers (1993); Kasai et al. (2001)</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400" b="0" i="0" dirty="0">
                          <a:solidFill>
                            <a:srgbClr val="262626"/>
                          </a:solidFill>
                          <a:latin typeface="+mn-lt"/>
                        </a:rPr>
                        <a:t>Checking string search</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r>
              <a:tr h="520000">
                <a:tc>
                  <a:txBody>
                    <a:bodyPr/>
                    <a:lstStyle/>
                    <a:p>
                      <a:pPr algn="l"/>
                      <a:r>
                        <a:rPr lang="en-US" sz="1400" b="1" i="0" dirty="0">
                          <a:solidFill>
                            <a:srgbClr val="262626"/>
                          </a:solidFill>
                          <a:latin typeface="+mn-lt"/>
                        </a:rPr>
                        <a:t>Edit distance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Levenshtein (1966); Damerau (1964); Wagner, Fischer (1974)</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Fixing typos in search</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520000">
                <a:tc>
                  <a:txBody>
                    <a:bodyPr/>
                    <a:lstStyle/>
                    <a:p>
                      <a:pPr algn="l"/>
                      <a:r>
                        <a:rPr lang="en-US" sz="1400" b="1" i="0" dirty="0">
                          <a:solidFill>
                            <a:srgbClr val="262626"/>
                          </a:solidFill>
                          <a:latin typeface="+mn-lt"/>
                        </a:rPr>
                        <a:t>0/1 knapsack</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400" b="0" i="0" dirty="0">
                          <a:solidFill>
                            <a:srgbClr val="262626"/>
                          </a:solidFill>
                          <a:latin typeface="+mn-lt"/>
                        </a:rPr>
                        <a:t>Cormen et al., Introduction to Algorithms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400" b="0" i="0" dirty="0">
                          <a:solidFill>
                            <a:srgbClr val="262626"/>
                          </a:solidFill>
                          <a:latin typeface="+mn-lt"/>
                        </a:rPr>
                        <a:t>Restocking within budget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r>
              <a:tr h="520000">
                <a:tc>
                  <a:txBody>
                    <a:bodyPr/>
                    <a:lstStyle/>
                    <a:p>
                      <a:pPr algn="l"/>
                      <a:r>
                        <a:rPr lang="en-US" sz="1400" b="1" i="0" dirty="0">
                          <a:solidFill>
                            <a:srgbClr val="262626"/>
                          </a:solidFill>
                          <a:latin typeface="+mn-lt"/>
                        </a:rPr>
                        <a:t>Edmonds-Karp max flow</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Edmonds, Karp (1972)</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Moving stock between warehouses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520000">
                <a:tc>
                  <a:txBody>
                    <a:bodyPr/>
                    <a:lstStyle/>
                    <a:p>
                      <a:pPr algn="l"/>
                      <a:r>
                        <a:rPr lang="en-US" sz="1400" b="1" i="0" dirty="0">
                          <a:solidFill>
                            <a:srgbClr val="262626"/>
                          </a:solidFill>
                          <a:latin typeface="+mn-lt"/>
                        </a:rPr>
                        <a:t>Greedy set cover</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400" b="0" i="0" dirty="0">
                          <a:solidFill>
                            <a:srgbClr val="262626"/>
                          </a:solidFill>
                          <a:latin typeface="+mn-lt"/>
                        </a:rPr>
                        <a:t>Chvatal (1979)</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400" b="0" i="0" dirty="0">
                          <a:solidFill>
                            <a:srgbClr val="262626"/>
                          </a:solidFill>
                          <a:latin typeface="+mn-lt"/>
                        </a:rPr>
                        <a:t>Choosing suppliers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r>
              <a:tr h="520000">
                <a:tc>
                  <a:txBody>
                    <a:bodyPr/>
                    <a:lstStyle/>
                    <a:p>
                      <a:pPr algn="l"/>
                      <a:r>
                        <a:rPr lang="en-US" sz="1400" b="1" i="0" dirty="0">
                          <a:solidFill>
                            <a:srgbClr val="262626"/>
                          </a:solidFill>
                          <a:latin typeface="+mn-lt"/>
                        </a:rPr>
                        <a:t>Reservoir sampling, quickselect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Vitter (1985); Hoare (1961)</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400" b="0" i="0" dirty="0">
                          <a:solidFill>
                            <a:srgbClr val="262626"/>
                          </a:solidFill>
                          <a:latin typeface="+mn-lt"/>
                        </a:rPr>
                        <a:t>Cycle counts, percentiles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101" name="Problem text 101"/>
          <p:cNvSpPr txBox="1"/>
          <p:nvPr/>
        </p:nvSpPr>
        <p:spPr>
          <a:xfrm>
            <a:off x="3200000" y="1450000"/>
            <a:ext cx="8000000" cy="49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600"/>
              </a:spcAft>
              <a:buNone/>
            </a:pPr>
            <a:r>
              <a:rPr lang="en-US" sz="2400" b="1" i="0" dirty="0">
                <a:solidFill>
                  <a:srgbClr val="C00000"/>
                </a:solidFill>
                <a:latin typeface="+mn-lt"/>
              </a:rPr>
              <a:t>Problem Statement</a:t>
            </a:r>
          </a:p>
          <a:p>
            <a:pPr marL="0" indent="0" algn="l">
              <a:lnSpc>
                <a:spcPct val="100000"/>
              </a:lnSpc>
              <a:spcBef>
                <a:spcPts val="0"/>
              </a:spcBef>
              <a:spcAft>
                <a:spcPts val="1400"/>
              </a:spcAft>
              <a:buNone/>
            </a:pPr>
            <a:r>
              <a:rPr lang="en-US" sz="1900" b="0" i="0" dirty="0">
                <a:solidFill>
                  <a:srgbClr val="262626"/>
                </a:solidFill>
                <a:latin typeface="+mn-lt"/>
              </a:rPr>
              <a:t>In a warehouse system we have to find products even when the name is typed wrong, decide what to reorder with a limited budget, move extra stock to places that are short, find items at risk, and check stock counts. Doing this manually is slow, and the data can reach millions of rows.</a:t>
            </a:r>
          </a:p>
          <a:p>
            <a:pPr marL="0" indent="0" algn="l">
              <a:lnSpc>
                <a:spcPct val="100000"/>
              </a:lnSpc>
              <a:spcBef>
                <a:spcPts val="0"/>
              </a:spcBef>
              <a:spcAft>
                <a:spcPts val="600"/>
              </a:spcAft>
              <a:buNone/>
            </a:pPr>
            <a:r>
              <a:rPr lang="en-US" sz="2400" b="1" i="0" dirty="0">
                <a:solidFill>
                  <a:srgbClr val="C00000"/>
                </a:solidFill>
                <a:latin typeface="+mn-lt"/>
              </a:rPr>
              <a:t>Objectives</a:t>
            </a:r>
          </a:p>
          <a:p>
            <a:pPr marL="285750" indent="-285750" algn="l">
              <a:lnSpc>
                <a:spcPct val="100000"/>
              </a:lnSpc>
              <a:spcBef>
                <a:spcPts val="0"/>
              </a:spcBef>
              <a:spcAft>
                <a:spcPts val="500"/>
              </a:spcAft>
              <a:buClr>
                <a:srgbClr val="262626"/>
              </a:buClr>
              <a:buFont typeface="Arial"/>
              <a:buChar char="•"/>
            </a:pPr>
            <a:r>
              <a:rPr lang="en-US" sz="1900" b="0" i="0" dirty="0">
                <a:solidFill>
                  <a:srgbClr val="262626"/>
                </a:solidFill>
                <a:latin typeface="+mn-lt"/>
              </a:rPr>
              <a:t>Search products by name or SKU, even with typos</a:t>
            </a:r>
          </a:p>
          <a:p>
            <a:pPr marL="285750" indent="-285750" algn="l">
              <a:lnSpc>
                <a:spcPct val="100000"/>
              </a:lnSpc>
              <a:spcBef>
                <a:spcPts val="0"/>
              </a:spcBef>
              <a:spcAft>
                <a:spcPts val="500"/>
              </a:spcAft>
              <a:buClr>
                <a:srgbClr val="262626"/>
              </a:buClr>
              <a:buFont typeface="Arial"/>
              <a:buChar char="•"/>
            </a:pPr>
            <a:r>
              <a:rPr lang="en-US" sz="1900" b="0" i="0" dirty="0">
                <a:solidFill>
                  <a:srgbClr val="262626"/>
                </a:solidFill>
                <a:latin typeface="+mn-lt"/>
              </a:rPr>
              <a:t>Make a restocking plan that fits the budget</a:t>
            </a:r>
          </a:p>
          <a:p>
            <a:pPr marL="285750" indent="-285750" algn="l">
              <a:lnSpc>
                <a:spcPct val="100000"/>
              </a:lnSpc>
              <a:spcBef>
                <a:spcPts val="0"/>
              </a:spcBef>
              <a:spcAft>
                <a:spcPts val="500"/>
              </a:spcAft>
              <a:buClr>
                <a:srgbClr val="262626"/>
              </a:buClr>
              <a:buFont typeface="Arial"/>
              <a:buChar char="•"/>
            </a:pPr>
            <a:r>
              <a:rPr lang="en-US" sz="1900" b="0" i="0" dirty="0">
                <a:solidFill>
                  <a:srgbClr val="262626"/>
                </a:solidFill>
                <a:latin typeface="+mn-lt"/>
              </a:rPr>
              <a:t>Move stock between warehouses using max flow</a:t>
            </a:r>
          </a:p>
          <a:p>
            <a:pPr marL="285750" indent="-285750" algn="l">
              <a:lnSpc>
                <a:spcPct val="100000"/>
              </a:lnSpc>
              <a:spcBef>
                <a:spcPts val="0"/>
              </a:spcBef>
              <a:spcAft>
                <a:spcPts val="500"/>
              </a:spcAft>
              <a:buClr>
                <a:srgbClr val="262626"/>
              </a:buClr>
              <a:buFont typeface="Arial"/>
              <a:buChar char="•"/>
            </a:pPr>
            <a:r>
              <a:rPr lang="en-US" sz="1900" b="0" i="0" dirty="0">
                <a:solidFill>
                  <a:srgbClr val="262626"/>
                </a:solidFill>
                <a:latin typeface="+mn-lt"/>
              </a:rPr>
              <a:t>Rank risky items and pick few suppliers</a:t>
            </a:r>
          </a:p>
          <a:p>
            <a:pPr marL="285750" indent="-285750" algn="l">
              <a:lnSpc>
                <a:spcPct val="100000"/>
              </a:lnSpc>
              <a:spcBef>
                <a:spcPts val="0"/>
              </a:spcBef>
              <a:spcAft>
                <a:spcPts val="500"/>
              </a:spcAft>
              <a:buClr>
                <a:srgbClr val="262626"/>
              </a:buClr>
              <a:buFont typeface="Arial"/>
              <a:buChar char="•"/>
            </a:pPr>
            <a:r>
              <a:rPr lang="en-US" sz="1900" b="0" i="0" dirty="0">
                <a:solidFill>
                  <a:srgbClr val="262626"/>
                </a:solidFill>
                <a:latin typeface="+mn-lt"/>
              </a:rPr>
              <a:t>Sample items for cycle counts and analyse a 10 million row file</a:t>
            </a:r>
          </a:p>
          <a:p>
            <a:pPr marL="285750" indent="-285750" algn="l">
              <a:lnSpc>
                <a:spcPct val="100000"/>
              </a:lnSpc>
              <a:spcBef>
                <a:spcPts val="0"/>
              </a:spcBef>
              <a:spcAft>
                <a:spcPts val="500"/>
              </a:spcAft>
              <a:buClr>
                <a:srgbClr val="262626"/>
              </a:buClr>
              <a:buFont typeface="Arial"/>
              <a:buChar char="•"/>
            </a:pPr>
            <a:r>
              <a:rPr lang="en-US" sz="1900" b="0" i="0" dirty="0">
                <a:solidFill>
                  <a:srgbClr val="262626"/>
                </a:solidFill>
                <a:latin typeface="+mn-lt"/>
              </a:rPr>
              <a:t>Test every module</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
        <p:nvSpPr>
          <p:cNvPr id="101" name="Flow box 101"/>
          <p:cNvSpPr/>
          <p:nvPr/>
        </p:nvSpPr>
        <p:spPr>
          <a:xfrm>
            <a:off x="3075000" y="1100000"/>
            <a:ext cx="2800000" cy="650000"/>
          </a:xfrm>
          <a:prstGeom prst="rect">
            <a:avLst/>
          </a:prstGeom>
          <a:solidFill>
            <a:srgbClr val="FFFFFF"/>
          </a:solidFill>
          <a:ln w="12700">
            <a:solidFill>
              <a:srgbClr val="C00000"/>
            </a:solidFill>
          </a:ln>
        </p:spPr>
        <p:txBody>
          <a:bodyPr wrap="square" lIns="45720" tIns="22860" rIns="45720" bIns="22860" rtlCol="0" anchor="ctr">
            <a:noAutofit/>
          </a:bodyPr>
          <a:lstStyle/>
          <a:p>
            <a:pPr marL="0" indent="0" algn="ctr">
              <a:lnSpc>
                <a:spcPct val="100000"/>
              </a:lnSpc>
              <a:spcBef>
                <a:spcPts val="0"/>
              </a:spcBef>
              <a:spcAft>
                <a:spcPts val="0"/>
              </a:spcAft>
              <a:buNone/>
            </a:pPr>
            <a:r>
              <a:rPr lang="en-US" sz="1600" b="0" i="0" dirty="0">
                <a:solidFill>
                  <a:srgbClr val="262626"/>
                </a:solidFill>
                <a:latin typeface="+mn-lt"/>
              </a:rPr>
              <a:t>Web page</a:t>
            </a:r>
          </a:p>
        </p:txBody>
      </p:sp>
      <p:sp>
        <p:nvSpPr>
          <p:cNvPr id="102" name="Flow box 102"/>
          <p:cNvSpPr/>
          <p:nvPr/>
        </p:nvSpPr>
        <p:spPr>
          <a:xfrm>
            <a:off x="6375000" y="1100000"/>
            <a:ext cx="2800000" cy="650000"/>
          </a:xfrm>
          <a:prstGeom prst="rect">
            <a:avLst/>
          </a:prstGeom>
          <a:solidFill>
            <a:srgbClr val="FFFFFF"/>
          </a:solidFill>
          <a:ln w="12700">
            <a:solidFill>
              <a:srgbClr val="C00000"/>
            </a:solidFill>
          </a:ln>
        </p:spPr>
        <p:txBody>
          <a:bodyPr wrap="square" lIns="45720" tIns="22860" rIns="45720" bIns="22860" rtlCol="0" anchor="ctr">
            <a:noAutofit/>
          </a:bodyPr>
          <a:lstStyle/>
          <a:p>
            <a:pPr marL="0" indent="0" algn="ctr">
              <a:lnSpc>
                <a:spcPct val="100000"/>
              </a:lnSpc>
              <a:spcBef>
                <a:spcPts val="0"/>
              </a:spcBef>
              <a:spcAft>
                <a:spcPts val="0"/>
              </a:spcAft>
              <a:buNone/>
            </a:pPr>
            <a:r>
              <a:rPr lang="en-US" sz="1600" b="0" i="0" dirty="0">
                <a:solidFill>
                  <a:srgbClr val="262626"/>
                </a:solidFill>
                <a:latin typeface="+mn-lt"/>
              </a:rPr>
              <a:t>Terminal menu</a:t>
            </a:r>
          </a:p>
        </p:txBody>
      </p:sp>
      <p:sp>
        <p:nvSpPr>
          <p:cNvPr id="103" name="Flow box 103"/>
          <p:cNvSpPr/>
          <p:nvPr/>
        </p:nvSpPr>
        <p:spPr>
          <a:xfrm>
            <a:off x="3825000" y="2150000"/>
            <a:ext cx="4600000" cy="650000"/>
          </a:xfrm>
          <a:prstGeom prst="rect">
            <a:avLst/>
          </a:prstGeom>
          <a:solidFill>
            <a:srgbClr val="FFFFFF"/>
          </a:solidFill>
          <a:ln w="12700">
            <a:solidFill>
              <a:srgbClr val="C00000"/>
            </a:solidFill>
          </a:ln>
        </p:spPr>
        <p:txBody>
          <a:bodyPr wrap="square" lIns="45720" tIns="22860" rIns="45720" bIns="22860" rtlCol="0" anchor="ctr">
            <a:noAutofit/>
          </a:bodyPr>
          <a:lstStyle/>
          <a:p>
            <a:pPr marL="0" indent="0" algn="ctr">
              <a:lnSpc>
                <a:spcPct val="100000"/>
              </a:lnSpc>
              <a:spcBef>
                <a:spcPts val="0"/>
              </a:spcBef>
              <a:spcAft>
                <a:spcPts val="0"/>
              </a:spcAft>
              <a:buNone/>
            </a:pPr>
            <a:r>
              <a:rPr lang="en-US" sz="1600" b="0" i="0" dirty="0">
                <a:solidFill>
                  <a:srgbClr val="262626"/>
                </a:solidFill>
                <a:latin typeface="+mn-lt"/>
              </a:rPr>
              <a:t>Login (admin / staff)</a:t>
            </a:r>
          </a:p>
        </p:txBody>
      </p:sp>
      <p:cxnSp>
        <p:nvCxnSpPr>
          <p:cNvPr id="104" name="Arrow 104"/>
          <p:cNvCxnSpPr/>
          <p:nvPr/>
        </p:nvCxnSpPr>
        <p:spPr>
          <a:xfrm>
            <a:off x="4475000" y="1750000"/>
            <a:ext cx="650000" cy="400000"/>
          </a:xfrm>
          <a:prstGeom prst="straightConnector1">
            <a:avLst/>
          </a:prstGeom>
          <a:ln w="28575">
            <a:solidFill>
              <a:srgbClr val="595959"/>
            </a:solidFill>
            <a:tailEnd type="triangle"/>
          </a:ln>
        </p:spPr>
      </p:cxnSp>
      <p:cxnSp>
        <p:nvCxnSpPr>
          <p:cNvPr id="105" name="Arrow 105"/>
          <p:cNvCxnSpPr/>
          <p:nvPr/>
        </p:nvCxnSpPr>
        <p:spPr>
          <a:xfrm flipH="1">
            <a:off x="7125000" y="1750000"/>
            <a:ext cx="650000" cy="400000"/>
          </a:xfrm>
          <a:prstGeom prst="straightConnector1">
            <a:avLst/>
          </a:prstGeom>
          <a:ln w="28575">
            <a:solidFill>
              <a:srgbClr val="595959"/>
            </a:solidFill>
            <a:tailEnd type="triangle"/>
          </a:ln>
        </p:spPr>
      </p:cxnSp>
      <p:sp>
        <p:nvSpPr>
          <p:cNvPr id="106" name="Flow box 106"/>
          <p:cNvSpPr/>
          <p:nvPr/>
        </p:nvSpPr>
        <p:spPr>
          <a:xfrm>
            <a:off x="3125000" y="3200000"/>
            <a:ext cx="6000000" cy="650000"/>
          </a:xfrm>
          <a:prstGeom prst="rect">
            <a:avLst/>
          </a:prstGeom>
          <a:solidFill>
            <a:srgbClr val="FFFFFF"/>
          </a:solidFill>
          <a:ln w="12700">
            <a:solidFill>
              <a:srgbClr val="C00000"/>
            </a:solidFill>
          </a:ln>
        </p:spPr>
        <p:txBody>
          <a:bodyPr wrap="square" lIns="45720" tIns="22860" rIns="45720" bIns="22860" rtlCol="0" anchor="ctr">
            <a:noAutofit/>
          </a:bodyPr>
          <a:lstStyle/>
          <a:p>
            <a:pPr marL="0" indent="0" algn="ctr">
              <a:lnSpc>
                <a:spcPct val="100000"/>
              </a:lnSpc>
              <a:spcBef>
                <a:spcPts val="0"/>
              </a:spcBef>
              <a:spcAft>
                <a:spcPts val="0"/>
              </a:spcAft>
              <a:buNone/>
            </a:pPr>
            <a:r>
              <a:rPr lang="en-US" sz="1600" b="0" i="0" dirty="0">
                <a:solidFill>
                  <a:srgbClr val="262626"/>
                </a:solidFill>
                <a:latin typeface="+mn-lt"/>
              </a:rPr>
              <a:t>Java program (server on localhost:8080)</a:t>
            </a:r>
          </a:p>
        </p:txBody>
      </p:sp>
      <p:cxnSp>
        <p:nvCxnSpPr>
          <p:cNvPr id="107" name="Arrow 107"/>
          <p:cNvCxnSpPr/>
          <p:nvPr/>
        </p:nvCxnSpPr>
        <p:spPr>
          <a:xfrm>
            <a:off x="6125000" y="2800000"/>
            <a:ext cx="0" cy="400000"/>
          </a:xfrm>
          <a:prstGeom prst="straightConnector1">
            <a:avLst/>
          </a:prstGeom>
          <a:ln w="28575">
            <a:solidFill>
              <a:srgbClr val="595959"/>
            </a:solidFill>
            <a:tailEnd type="triangle"/>
          </a:ln>
        </p:spPr>
      </p:cxnSp>
      <p:sp>
        <p:nvSpPr>
          <p:cNvPr id="108" name="Flow box 108"/>
          <p:cNvSpPr/>
          <p:nvPr/>
        </p:nvSpPr>
        <p:spPr>
          <a:xfrm>
            <a:off x="1000000" y="4300000"/>
            <a:ext cx="1500000" cy="900000"/>
          </a:xfrm>
          <a:prstGeom prst="rect">
            <a:avLst/>
          </a:prstGeom>
          <a:solidFill>
            <a:srgbClr val="FFFFFF"/>
          </a:solidFill>
          <a:ln w="12700">
            <a:solidFill>
              <a:srgbClr val="C00000"/>
            </a:solidFill>
          </a:ln>
        </p:spPr>
        <p:txBody>
          <a:bodyPr wrap="square" lIns="45720" tIns="22860" rIns="45720" bIns="22860" rtlCol="0" anchor="ctr">
            <a:noAutofit/>
          </a:bodyPr>
          <a:lstStyle/>
          <a:p>
            <a:pPr marL="0" indent="0" algn="ctr">
              <a:lnSpc>
                <a:spcPct val="100000"/>
              </a:lnSpc>
              <a:spcBef>
                <a:spcPts val="0"/>
              </a:spcBef>
              <a:spcAft>
                <a:spcPts val="0"/>
              </a:spcAft>
              <a:buNone/>
            </a:pPr>
            <a:r>
              <a:rPr lang="en-US" sz="1300" b="0" i="0" dirty="0">
                <a:solidFill>
                  <a:srgbClr val="262626"/>
                </a:solidFill>
                <a:latin typeface="+mn-lt"/>
              </a:rPr>
              <a:t>M1 Search</a:t>
            </a:r>
          </a:p>
        </p:txBody>
      </p:sp>
      <p:sp>
        <p:nvSpPr>
          <p:cNvPr id="109" name="Flow box 109"/>
          <p:cNvSpPr/>
          <p:nvPr/>
        </p:nvSpPr>
        <p:spPr>
          <a:xfrm>
            <a:off x="2750000" y="4300000"/>
            <a:ext cx="1500000" cy="900000"/>
          </a:xfrm>
          <a:prstGeom prst="rect">
            <a:avLst/>
          </a:prstGeom>
          <a:solidFill>
            <a:srgbClr val="FFFFFF"/>
          </a:solidFill>
          <a:ln w="12700">
            <a:solidFill>
              <a:srgbClr val="C00000"/>
            </a:solidFill>
          </a:ln>
        </p:spPr>
        <p:txBody>
          <a:bodyPr wrap="square" lIns="45720" tIns="22860" rIns="45720" bIns="22860" rtlCol="0" anchor="ctr">
            <a:noAutofit/>
          </a:bodyPr>
          <a:lstStyle/>
          <a:p>
            <a:pPr marL="0" indent="0" algn="ctr">
              <a:lnSpc>
                <a:spcPct val="100000"/>
              </a:lnSpc>
              <a:spcBef>
                <a:spcPts val="0"/>
              </a:spcBef>
              <a:spcAft>
                <a:spcPts val="0"/>
              </a:spcAft>
              <a:buNone/>
            </a:pPr>
            <a:r>
              <a:rPr lang="en-US" sz="1300" b="0" i="0" dirty="0">
                <a:solidFill>
                  <a:srgbClr val="262626"/>
                </a:solidFill>
                <a:latin typeface="+mn-lt"/>
              </a:rPr>
              <a:t>M2 String matching</a:t>
            </a:r>
          </a:p>
        </p:txBody>
      </p:sp>
      <p:sp>
        <p:nvSpPr>
          <p:cNvPr id="110" name="Flow box 110"/>
          <p:cNvSpPr/>
          <p:nvPr/>
        </p:nvSpPr>
        <p:spPr>
          <a:xfrm>
            <a:off x="4500000" y="4300000"/>
            <a:ext cx="1500000" cy="900000"/>
          </a:xfrm>
          <a:prstGeom prst="rect">
            <a:avLst/>
          </a:prstGeom>
          <a:solidFill>
            <a:srgbClr val="FFFFFF"/>
          </a:solidFill>
          <a:ln w="12700">
            <a:solidFill>
              <a:srgbClr val="C00000"/>
            </a:solidFill>
          </a:ln>
        </p:spPr>
        <p:txBody>
          <a:bodyPr wrap="square" lIns="45720" tIns="22860" rIns="45720" bIns="22860" rtlCol="0" anchor="ctr">
            <a:noAutofit/>
          </a:bodyPr>
          <a:lstStyle/>
          <a:p>
            <a:pPr marL="0" indent="0" algn="ctr">
              <a:lnSpc>
                <a:spcPct val="100000"/>
              </a:lnSpc>
              <a:spcBef>
                <a:spcPts val="0"/>
              </a:spcBef>
              <a:spcAft>
                <a:spcPts val="0"/>
              </a:spcAft>
              <a:buNone/>
            </a:pPr>
            <a:r>
              <a:rPr lang="en-US" sz="1300" b="0" i="0" dirty="0">
                <a:solidFill>
                  <a:srgbClr val="262626"/>
                </a:solidFill>
                <a:latin typeface="+mn-lt"/>
              </a:rPr>
              <a:t>M3 Restocking (knapsack)</a:t>
            </a:r>
          </a:p>
        </p:txBody>
      </p:sp>
      <p:sp>
        <p:nvSpPr>
          <p:cNvPr id="111" name="Flow box 111"/>
          <p:cNvSpPr/>
          <p:nvPr/>
        </p:nvSpPr>
        <p:spPr>
          <a:xfrm>
            <a:off x="6250000" y="4300000"/>
            <a:ext cx="1500000" cy="900000"/>
          </a:xfrm>
          <a:prstGeom prst="rect">
            <a:avLst/>
          </a:prstGeom>
          <a:solidFill>
            <a:srgbClr val="FFFFFF"/>
          </a:solidFill>
          <a:ln w="12700">
            <a:solidFill>
              <a:srgbClr val="C00000"/>
            </a:solidFill>
          </a:ln>
        </p:spPr>
        <p:txBody>
          <a:bodyPr wrap="square" lIns="45720" tIns="22860" rIns="45720" bIns="22860" rtlCol="0" anchor="ctr">
            <a:noAutofit/>
          </a:bodyPr>
          <a:lstStyle/>
          <a:p>
            <a:pPr marL="0" indent="0" algn="ctr">
              <a:lnSpc>
                <a:spcPct val="100000"/>
              </a:lnSpc>
              <a:spcBef>
                <a:spcPts val="0"/>
              </a:spcBef>
              <a:spcAft>
                <a:spcPts val="0"/>
              </a:spcAft>
              <a:buNone/>
            </a:pPr>
            <a:r>
              <a:rPr lang="en-US" sz="1300" b="0" i="0" dirty="0">
                <a:solidFill>
                  <a:srgbClr val="262626"/>
                </a:solidFill>
                <a:latin typeface="+mn-lt"/>
              </a:rPr>
              <a:t>M4 Stock transfer (max flow)</a:t>
            </a:r>
          </a:p>
        </p:txBody>
      </p:sp>
      <p:sp>
        <p:nvSpPr>
          <p:cNvPr id="112" name="Flow box 112"/>
          <p:cNvSpPr/>
          <p:nvPr/>
        </p:nvSpPr>
        <p:spPr>
          <a:xfrm>
            <a:off x="8000000" y="4300000"/>
            <a:ext cx="1500000" cy="900000"/>
          </a:xfrm>
          <a:prstGeom prst="rect">
            <a:avLst/>
          </a:prstGeom>
          <a:solidFill>
            <a:srgbClr val="FFFFFF"/>
          </a:solidFill>
          <a:ln w="12700">
            <a:solidFill>
              <a:srgbClr val="C00000"/>
            </a:solidFill>
          </a:ln>
        </p:spPr>
        <p:txBody>
          <a:bodyPr wrap="square" lIns="45720" tIns="22860" rIns="45720" bIns="22860" rtlCol="0" anchor="ctr">
            <a:noAutofit/>
          </a:bodyPr>
          <a:lstStyle/>
          <a:p>
            <a:pPr marL="0" indent="0" algn="ctr">
              <a:lnSpc>
                <a:spcPct val="100000"/>
              </a:lnSpc>
              <a:spcBef>
                <a:spcPts val="0"/>
              </a:spcBef>
              <a:spcAft>
                <a:spcPts val="0"/>
              </a:spcAft>
              <a:buNone/>
            </a:pPr>
            <a:r>
              <a:rPr lang="en-US" sz="1300" b="0" i="0" dirty="0">
                <a:solidFill>
                  <a:srgbClr val="262626"/>
                </a:solidFill>
                <a:latin typeface="+mn-lt"/>
              </a:rPr>
              <a:t>M5 Risk and suppliers</a:t>
            </a:r>
          </a:p>
        </p:txBody>
      </p:sp>
      <p:sp>
        <p:nvSpPr>
          <p:cNvPr id="113" name="Flow box 113"/>
          <p:cNvSpPr/>
          <p:nvPr/>
        </p:nvSpPr>
        <p:spPr>
          <a:xfrm>
            <a:off x="9750000" y="4300000"/>
            <a:ext cx="1500000" cy="900000"/>
          </a:xfrm>
          <a:prstGeom prst="rect">
            <a:avLst/>
          </a:prstGeom>
          <a:solidFill>
            <a:srgbClr val="FFFFFF"/>
          </a:solidFill>
          <a:ln w="12700">
            <a:solidFill>
              <a:srgbClr val="C00000"/>
            </a:solidFill>
          </a:ln>
        </p:spPr>
        <p:txBody>
          <a:bodyPr wrap="square" lIns="45720" tIns="22860" rIns="45720" bIns="22860" rtlCol="0" anchor="ctr">
            <a:noAutofit/>
          </a:bodyPr>
          <a:lstStyle/>
          <a:p>
            <a:pPr marL="0" indent="0" algn="ctr">
              <a:lnSpc>
                <a:spcPct val="100000"/>
              </a:lnSpc>
              <a:spcBef>
                <a:spcPts val="0"/>
              </a:spcBef>
              <a:spcAft>
                <a:spcPts val="0"/>
              </a:spcAft>
              <a:buNone/>
            </a:pPr>
            <a:r>
              <a:rPr lang="en-US" sz="1300" b="0" i="0" dirty="0">
                <a:solidFill>
                  <a:srgbClr val="262626"/>
                </a:solidFill>
                <a:latin typeface="+mn-lt"/>
              </a:rPr>
              <a:t>M6 Sampling, big file</a:t>
            </a:r>
          </a:p>
        </p:txBody>
      </p:sp>
      <p:cxnSp>
        <p:nvCxnSpPr>
          <p:cNvPr id="114" name="Arrow 114"/>
          <p:cNvCxnSpPr/>
          <p:nvPr/>
        </p:nvCxnSpPr>
        <p:spPr>
          <a:xfrm>
            <a:off x="6125000" y="3850000"/>
            <a:ext cx="0" cy="450000"/>
          </a:xfrm>
          <a:prstGeom prst="straightConnector1">
            <a:avLst/>
          </a:prstGeom>
          <a:ln w="28575">
            <a:solidFill>
              <a:srgbClr val="595959"/>
            </a:solidFill>
            <a:tailEnd type="triangle"/>
          </a:ln>
        </p:spPr>
      </p:cxnSp>
      <p:sp>
        <p:nvSpPr>
          <p:cNvPr id="115" name="Flow box 115"/>
          <p:cNvSpPr/>
          <p:nvPr/>
        </p:nvSpPr>
        <p:spPr>
          <a:xfrm>
            <a:off x="2000000" y="5750000"/>
            <a:ext cx="8250000" cy="650000"/>
          </a:xfrm>
          <a:prstGeom prst="rect">
            <a:avLst/>
          </a:prstGeom>
          <a:solidFill>
            <a:srgbClr val="FFFFFF"/>
          </a:solidFill>
          <a:ln w="12700">
            <a:solidFill>
              <a:srgbClr val="C00000"/>
            </a:solidFill>
          </a:ln>
        </p:spPr>
        <p:txBody>
          <a:bodyPr wrap="square" lIns="45720" tIns="22860" rIns="45720" bIns="22860" rtlCol="0" anchor="ctr">
            <a:noAutofit/>
          </a:bodyPr>
          <a:lstStyle/>
          <a:p>
            <a:pPr marL="0" indent="0" algn="ctr">
              <a:lnSpc>
                <a:spcPct val="100000"/>
              </a:lnSpc>
              <a:spcBef>
                <a:spcPts val="0"/>
              </a:spcBef>
              <a:spcAft>
                <a:spcPts val="0"/>
              </a:spcAft>
              <a:buNone/>
            </a:pPr>
            <a:r>
              <a:rPr lang="en-US" sz="1600" b="0" i="0" dirty="0">
                <a:solidFill>
                  <a:srgbClr val="262626"/>
                </a:solidFill>
                <a:latin typeface="+mn-lt"/>
              </a:rPr>
              <a:t>CSV files: inventory, routes, users</a:t>
            </a:r>
          </a:p>
        </p:txBody>
      </p:sp>
      <p:cxnSp>
        <p:nvCxnSpPr>
          <p:cNvPr id="116" name="Arrow 116"/>
          <p:cNvCxnSpPr/>
          <p:nvPr/>
        </p:nvCxnSpPr>
        <p:spPr>
          <a:xfrm>
            <a:off x="6125000" y="5200000"/>
            <a:ext cx="0" cy="550000"/>
          </a:xfrm>
          <a:prstGeom prst="straightConnector1">
            <a:avLst/>
          </a:prstGeom>
          <a:ln w="28575">
            <a:solidFill>
              <a:srgbClr val="595959"/>
            </a:solidFill>
            <a:headEnd type="triangle"/>
            <a:tailEnd type="triangle"/>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2660072" y="221673"/>
            <a:ext cx="6871855"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 Testing</a:t>
            </a:r>
            <a:endParaRPr lang="en-US" sz="3200" b="1" dirty="0">
              <a:solidFill>
                <a:schemeClr val="bg1"/>
              </a:solidFill>
            </a:endParaRPr>
          </a:p>
        </p:txBody>
      </p:sp>
      <p:graphicFrame>
        <p:nvGraphicFramePr>
          <p:cNvPr id="101" name="Results table 101"/>
          <p:cNvGraphicFramePr>
            <a:graphicFrameLocks noGrp="1"/>
          </p:cNvGraphicFramePr>
          <p:nvPr/>
        </p:nvGraphicFramePr>
        <p:xfrm>
          <a:off x="1400000" y="1300000"/>
          <a:ext cx="9700000" cy="4480000"/>
        </p:xfrm>
        <a:graphic>
          <a:graphicData uri="http://schemas.openxmlformats.org/drawingml/2006/table">
            <a:tbl>
              <a:tblPr firstRow="1" bandRow="1"/>
              <a:tblGrid>
                <a:gridCol w="4300000"/>
                <a:gridCol w="5400000"/>
              </a:tblGrid>
              <a:tr h="560000">
                <a:tc>
                  <a:txBody>
                    <a:bodyPr/>
                    <a:lstStyle/>
                    <a:p>
                      <a:pPr algn="l"/>
                      <a:r>
                        <a:rPr lang="en-US" sz="1600" b="1" i="0" dirty="0">
                          <a:solidFill>
                            <a:srgbClr val="FFFFFF"/>
                          </a:solidFill>
                          <a:latin typeface="+mn-lt"/>
                        </a:rPr>
                        <a:t>Test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c>
                  <a:txBody>
                    <a:bodyPr/>
                    <a:lstStyle/>
                    <a:p>
                      <a:pPr algn="l"/>
                      <a:r>
                        <a:rPr lang="en-US" sz="1600" b="1" i="0" dirty="0">
                          <a:solidFill>
                            <a:srgbClr val="FFFFFF"/>
                          </a:solidFill>
                          <a:latin typeface="+mn-lt"/>
                        </a:rPr>
                        <a:t>Result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C00000"/>
                    </a:solidFill>
                  </a:tcPr>
                </a:tc>
              </a:tr>
              <a:tr h="560000">
                <a:tc>
                  <a:txBody>
                    <a:bodyPr/>
                    <a:lstStyle/>
                    <a:p>
                      <a:pPr algn="l"/>
                      <a:r>
                        <a:rPr lang="en-US" sz="1600" b="1" i="0" dirty="0">
                          <a:solidFill>
                            <a:srgbClr val="262626"/>
                          </a:solidFill>
                          <a:latin typeface="+mn-lt"/>
                        </a:rPr>
                        <a:t>Automated tests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600" b="0" i="0" dirty="0">
                          <a:solidFill>
                            <a:srgbClr val="262626"/>
                          </a:solidFill>
                          <a:latin typeface="+mn-lt"/>
                        </a:rPr>
                        <a:t>23 passed, 0 failed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560000">
                <a:tc>
                  <a:txBody>
                    <a:bodyPr/>
                    <a:lstStyle/>
                    <a:p>
                      <a:pPr algn="l"/>
                      <a:r>
                        <a:rPr lang="en-US" sz="1600" b="1" i="0" dirty="0">
                          <a:solidFill>
                            <a:srgbClr val="262626"/>
                          </a:solidFill>
                          <a:latin typeface="+mn-lt"/>
                        </a:rPr>
                        <a:t>Typo search: "haevy"</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600" b="0" i="0" dirty="0">
                          <a:solidFill>
                            <a:srgbClr val="262626"/>
                          </a:solidFill>
                          <a:latin typeface="+mn-lt"/>
                        </a:rPr>
                        <a:t>Corrected to "heavy", 313 products found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r>
              <a:tr h="560000">
                <a:tc>
                  <a:txBody>
                    <a:bodyPr/>
                    <a:lstStyle/>
                    <a:p>
                      <a:pPr algn="l"/>
                      <a:r>
                        <a:rPr lang="en-US" sz="1600" b="1" i="0" dirty="0">
                          <a:solidFill>
                            <a:srgbClr val="262626"/>
                          </a:solidFill>
                          <a:latin typeface="+mn-lt"/>
                        </a:rPr>
                        <a:t>Restocking with 50,000 budget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600" b="0" i="0" dirty="0">
                          <a:solidFill>
                            <a:srgbClr val="262626"/>
                          </a:solidFill>
                          <a:latin typeface="+mn-lt"/>
                        </a:rPr>
                        <a:t>49,919 spent on 7 items (within budget)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560000">
                <a:tc>
                  <a:txBody>
                    <a:bodyPr/>
                    <a:lstStyle/>
                    <a:p>
                      <a:pPr algn="l"/>
                      <a:r>
                        <a:rPr lang="en-US" sz="1600" b="1" i="0" dirty="0">
                          <a:solidFill>
                            <a:srgbClr val="262626"/>
                          </a:solidFill>
                          <a:latin typeface="+mn-lt"/>
                        </a:rPr>
                        <a:t>Stock transfer plan</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600" b="0" i="0" dirty="0">
                          <a:solidFill>
                            <a:srgbClr val="262626"/>
                          </a:solidFill>
                          <a:latin typeface="+mn-lt"/>
                        </a:rPr>
                        <a:t>30,832 units moved in 806 transfers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r>
              <a:tr h="560000">
                <a:tc>
                  <a:txBody>
                    <a:bodyPr/>
                    <a:lstStyle/>
                    <a:p>
                      <a:pPr algn="l"/>
                      <a:r>
                        <a:rPr lang="en-US" sz="1600" b="1" i="0" dirty="0">
                          <a:solidFill>
                            <a:srgbClr val="262626"/>
                          </a:solidFill>
                          <a:latin typeface="+mn-lt"/>
                        </a:rPr>
                        <a:t>Max flow on textbook network</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600" b="0" i="0" dirty="0">
                          <a:solidFill>
                            <a:srgbClr val="262626"/>
                          </a:solidFill>
                          <a:latin typeface="+mn-lt"/>
                        </a:rPr>
                        <a:t>23, same as the min-cut</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r h="560000">
                <a:tc>
                  <a:txBody>
                    <a:bodyPr/>
                    <a:lstStyle/>
                    <a:p>
                      <a:pPr algn="l"/>
                      <a:r>
                        <a:rPr lang="en-US" sz="1600" b="1" i="0" dirty="0">
                          <a:solidFill>
                            <a:srgbClr val="262626"/>
                          </a:solidFill>
                          <a:latin typeface="+mn-lt"/>
                        </a:rPr>
                        <a:t>Knapsack vs brute force</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c>
                  <a:txBody>
                    <a:bodyPr/>
                    <a:lstStyle/>
                    <a:p>
                      <a:pPr algn="l"/>
                      <a:r>
                        <a:rPr lang="en-US" sz="1600" b="0" i="0" dirty="0">
                          <a:solidFill>
                            <a:srgbClr val="262626"/>
                          </a:solidFill>
                          <a:latin typeface="+mn-lt"/>
                        </a:rPr>
                        <a:t>Same answer on 150 random cases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2F2F2"/>
                    </a:solidFill>
                  </a:tcPr>
                </a:tc>
              </a:tr>
              <a:tr h="560000">
                <a:tc>
                  <a:txBody>
                    <a:bodyPr/>
                    <a:lstStyle/>
                    <a:p>
                      <a:pPr algn="l"/>
                      <a:r>
                        <a:rPr lang="en-US" sz="1600" b="1" i="0" dirty="0">
                          <a:solidFill>
                            <a:srgbClr val="262626"/>
                          </a:solidFill>
                          <a:latin typeface="+mn-lt"/>
                        </a:rPr>
                        <a:t>Parallel vs single thread</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c>
                  <a:txBody>
                    <a:bodyPr/>
                    <a:lstStyle/>
                    <a:p>
                      <a:pPr algn="l"/>
                      <a:r>
                        <a:rPr lang="en-US" sz="1600" b="0" i="0" dirty="0">
                          <a:solidFill>
                            <a:srgbClr val="262626"/>
                          </a:solidFill>
                          <a:latin typeface="+mn-lt"/>
                        </a:rPr>
                        <a:t>Same result on 200,000 rows</a:t>
                      </a:r>
                    </a:p>
                  </a:txBody>
                  <a:tcPr marL="91440" marR="91440" marT="45720" marB="45720" anchor="ctr">
                    <a:lnL w="6350">
                      <a:solidFill>
                        <a:srgbClr val="D9D9D9"/>
                      </a:solidFill>
                    </a:lnL>
                    <a:lnR w="6350">
                      <a:solidFill>
                        <a:srgbClr val="D9D9D9"/>
                      </a:solidFill>
                    </a:lnR>
                    <a:lnT w="6350">
                      <a:solidFill>
                        <a:srgbClr val="D9D9D9"/>
                      </a:solidFill>
                    </a:lnT>
                    <a:lnB w="6350">
                      <a:solidFill>
                        <a:srgbClr val="D9D9D9"/>
                      </a:solidFill>
                    </a:lnB>
                    <a:solidFill>
                      <a:srgbClr val="FFFFFF"/>
                    </a:solidFill>
                  </a:tcPr>
                </a:tc>
              </a:tr>
            </a:tbl>
          </a:graphicData>
        </a:graphic>
      </p:graphicFrame>
      <p:sp>
        <p:nvSpPr>
          <p:cNvPr id="102" name="Source 102"/>
          <p:cNvSpPr txBox="1"/>
          <p:nvPr/>
        </p:nvSpPr>
        <p:spPr>
          <a:xfrm>
            <a:off x="1400000" y="5950000"/>
            <a:ext cx="9000000" cy="3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1200" b="0" i="0" dirty="0">
                <a:solidFill>
                  <a:srgbClr val="595959"/>
                </a:solidFill>
                <a:latin typeface="+mn-lt"/>
              </a:rPr>
              <a:t>Taken from our test report (23 tests).</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2660072" y="221673"/>
            <a:ext cx="6871855"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 Large File</a:t>
            </a:r>
            <a:endParaRPr lang="en-US" sz="3200" b="1" dirty="0">
              <a:solidFill>
                <a:schemeClr val="bg1"/>
              </a:solidFill>
            </a:endParaRPr>
          </a:p>
        </p:txBody>
      </p:sp>
      <p:sp>
        <p:nvSpPr>
          <p:cNvPr id="101" name="Large file notes 101"/>
          <p:cNvSpPr txBox="1"/>
          <p:nvPr/>
        </p:nvSpPr>
        <p:spPr>
          <a:xfrm>
            <a:off x="7700000" y="1400000"/>
            <a:ext cx="3600000" cy="4800000"/>
          </a:xfrm>
          <a:prstGeom prst="rect">
            <a:avLst/>
          </a:prstGeom>
          <a:noFill/>
          <a:ln>
            <a:noFill/>
          </a:ln>
        </p:spPr>
        <p:txBody>
          <a:bodyPr wrap="square" lIns="0" tIns="0" rIns="0" bIns="0" rtlCol="0" anchor="t">
            <a:noAutofit/>
          </a:bodyPr>
          <a:lstStyle/>
          <a:p>
            <a:pPr marL="285750" indent="-285750" algn="l">
              <a:lnSpc>
                <a:spcPct val="100000"/>
              </a:lnSpc>
              <a:spcBef>
                <a:spcPts val="0"/>
              </a:spcBef>
              <a:spcAft>
                <a:spcPts val="900"/>
              </a:spcAft>
              <a:buClr>
                <a:srgbClr val="262626"/>
              </a:buClr>
              <a:buFont typeface="Arial"/>
              <a:buChar char="•"/>
            </a:pPr>
            <a:r>
              <a:rPr lang="en-US" sz="1800" b="0" i="0" dirty="0">
                <a:solidFill>
                  <a:srgbClr val="262626"/>
                </a:solidFill>
                <a:latin typeface="+mn-lt"/>
              </a:rPr>
              <a:t>10,000,000 rows, about 950 MB</a:t>
            </a:r>
          </a:p>
          <a:p>
            <a:pPr marL="285750" indent="-285750" algn="l">
              <a:lnSpc>
                <a:spcPct val="100000"/>
              </a:lnSpc>
              <a:spcBef>
                <a:spcPts val="0"/>
              </a:spcBef>
              <a:spcAft>
                <a:spcPts val="900"/>
              </a:spcAft>
              <a:buClr>
                <a:srgbClr val="262626"/>
              </a:buClr>
              <a:buFont typeface="Arial"/>
              <a:buChar char="•"/>
            </a:pPr>
            <a:r>
              <a:rPr lang="en-US" sz="1800" b="0" i="0" dirty="0">
                <a:solidFill>
                  <a:srgbClr val="262626"/>
                </a:solidFill>
                <a:latin typeface="+mn-lt"/>
              </a:rPr>
              <a:t>Run on a 1-core cloud VM</a:t>
            </a:r>
          </a:p>
          <a:p>
            <a:pPr marL="285750" indent="-285750" algn="l">
              <a:lnSpc>
                <a:spcPct val="100000"/>
              </a:lnSpc>
              <a:spcBef>
                <a:spcPts val="0"/>
              </a:spcBef>
              <a:spcAft>
                <a:spcPts val="900"/>
              </a:spcAft>
              <a:buClr>
                <a:srgbClr val="262626"/>
              </a:buClr>
              <a:buFont typeface="Arial"/>
              <a:buChar char="•"/>
            </a:pPr>
            <a:r>
              <a:rPr lang="en-US" sz="1800" b="0" i="0" dirty="0">
                <a:solidFill>
                  <a:srgbClr val="262626"/>
                </a:solidFill>
                <a:latin typeface="+mn-lt"/>
              </a:rPr>
              <a:t>Parallel aggregation with 4 threads: 5.7 s, about 1.7 million rows per second</a:t>
            </a:r>
          </a:p>
          <a:p>
            <a:pPr marL="285750" indent="-285750" algn="l">
              <a:lnSpc>
                <a:spcPct val="100000"/>
              </a:lnSpc>
              <a:spcBef>
                <a:spcPts val="0"/>
              </a:spcBef>
              <a:spcAft>
                <a:spcPts val="900"/>
              </a:spcAft>
              <a:buClr>
                <a:srgbClr val="262626"/>
              </a:buClr>
              <a:buFont typeface="Arial"/>
              <a:buChar char="•"/>
            </a:pPr>
            <a:r>
              <a:rPr lang="en-US" sz="1800" b="0" i="0" dirty="0">
                <a:solidFill>
                  <a:srgbClr val="262626"/>
                </a:solidFill>
                <a:latin typeface="+mn-lt"/>
              </a:rPr>
              <a:t>KMP search (3.1 s) was about 2 times faster than Rabin-Karp (6.3 s)</a:t>
            </a:r>
          </a:p>
          <a:p>
            <a:pPr marL="285750" indent="-285750" algn="l">
              <a:lnSpc>
                <a:spcPct val="100000"/>
              </a:lnSpc>
              <a:spcBef>
                <a:spcPts val="0"/>
              </a:spcBef>
              <a:spcAft>
                <a:spcPts val="900"/>
              </a:spcAft>
              <a:buClr>
                <a:srgbClr val="262626"/>
              </a:buClr>
              <a:buFont typeface="Arial"/>
              <a:buChar char="•"/>
            </a:pPr>
            <a:r>
              <a:rPr lang="en-US" sz="1800" b="0" i="0" dirty="0">
                <a:solidFill>
                  <a:srgbClr val="262626"/>
                </a:solidFill>
                <a:latin typeface="+mn-lt"/>
              </a:rPr>
              <a:t>A computer with more cores should be faster, as the threads run in parallel</a:t>
            </a:r>
          </a:p>
        </p:txBody>
      </p:sp>
      <p:graphicFrame>
        <p:nvGraphicFramePr>
          <p:cNvPr id="102" name="Performance chart"/>
          <p:cNvGraphicFramePr>
            <a:graphicFrameLocks noGrp="1"/>
          </p:cNvGraphicFramePr>
          <p:nvPr/>
        </p:nvGraphicFramePr>
        <p:xfrm>
          <a:off x="1000000" y="1300000"/>
          <a:ext cx="6300000" cy="4900000"/>
        </p:xfrm>
        <a:graphic>
          <a:graphicData uri="http://schemas.openxmlformats.org/drawingml/2006/chart">
            <c:chart xmlns:c="http://schemas.openxmlformats.org/drawingml/2006/chart" r:id="rId2"/>
          </a:graphicData>
        </a:graphic>
      </p:graphicFrame>
    </p:spTree>
    <p:extLst>
      <p:ext uri="{BB962C8B-B14F-4D97-AF65-F5344CB8AC3E}">
        <p14:creationId xmlns:p14="http://schemas.microsoft.com/office/powerpoint/2010/main" val="106092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101" name="Hardware 101"/>
          <p:cNvSpPr txBox="1"/>
          <p:nvPr/>
        </p:nvSpPr>
        <p:spPr>
          <a:xfrm>
            <a:off x="2900000" y="1550000"/>
            <a:ext cx="3900000" cy="45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600"/>
              </a:spcAft>
              <a:buNone/>
            </a:pPr>
            <a:r>
              <a:rPr lang="en-US" sz="2400" b="1" i="0" dirty="0">
                <a:solidFill>
                  <a:srgbClr val="C00000"/>
                </a:solidFill>
                <a:latin typeface="+mn-lt"/>
              </a:rPr>
              <a:t>Hardware</a:t>
            </a:r>
          </a:p>
          <a:p>
            <a:pPr marL="285750" indent="-285750" algn="l">
              <a:lnSpc>
                <a:spcPct val="100000"/>
              </a:lnSpc>
              <a:spcBef>
                <a:spcPts val="0"/>
              </a:spcBef>
              <a:spcAft>
                <a:spcPts val="700"/>
              </a:spcAft>
              <a:buClr>
                <a:srgbClr val="262626"/>
              </a:buClr>
              <a:buFont typeface="Arial"/>
              <a:buChar char="•"/>
            </a:pPr>
            <a:r>
              <a:rPr lang="en-US" sz="2000" b="0" i="0" dirty="0">
                <a:solidFill>
                  <a:srgbClr val="262626"/>
                </a:solidFill>
                <a:latin typeface="+mn-lt"/>
              </a:rPr>
              <a:t>Normal laptop or desktop</a:t>
            </a:r>
          </a:p>
          <a:p>
            <a:pPr marL="285750" indent="-285750" algn="l">
              <a:lnSpc>
                <a:spcPct val="100000"/>
              </a:lnSpc>
              <a:spcBef>
                <a:spcPts val="0"/>
              </a:spcBef>
              <a:spcAft>
                <a:spcPts val="700"/>
              </a:spcAft>
              <a:buClr>
                <a:srgbClr val="262626"/>
              </a:buClr>
              <a:buFont typeface="Arial"/>
              <a:buChar char="•"/>
            </a:pPr>
            <a:r>
              <a:rPr lang="en-US" sz="2000" b="0" i="0" dirty="0">
                <a:solidFill>
                  <a:srgbClr val="262626"/>
                </a:solidFill>
                <a:latin typeface="+mn-lt"/>
              </a:rPr>
              <a:t>About 1 GB free disk space for the 10 million row file</a:t>
            </a:r>
          </a:p>
          <a:p>
            <a:pPr marL="285750" indent="-285750" algn="l">
              <a:lnSpc>
                <a:spcPct val="100000"/>
              </a:lnSpc>
              <a:spcBef>
                <a:spcPts val="0"/>
              </a:spcBef>
              <a:spcAft>
                <a:spcPts val="700"/>
              </a:spcAft>
              <a:buClr>
                <a:srgbClr val="262626"/>
              </a:buClr>
              <a:buFont typeface="Arial"/>
              <a:buChar char="•"/>
            </a:pPr>
            <a:r>
              <a:rPr lang="en-US" sz="2000" b="0" i="0" dirty="0">
                <a:solidFill>
                  <a:srgbClr val="262626"/>
                </a:solidFill>
                <a:latin typeface="+mn-lt"/>
              </a:rPr>
              <a:t>Multi-core CPU is better for the parallel scan</a:t>
            </a:r>
          </a:p>
        </p:txBody>
      </p:sp>
      <p:sp>
        <p:nvSpPr>
          <p:cNvPr id="102" name="Software 102"/>
          <p:cNvSpPr txBox="1"/>
          <p:nvPr/>
        </p:nvSpPr>
        <p:spPr>
          <a:xfrm>
            <a:off x="7200000" y="1550000"/>
            <a:ext cx="4000000" cy="4500000"/>
          </a:xfrm>
          <a:prstGeom prst="rect">
            <a:avLst/>
          </a:prstGeom>
          <a:noFill/>
          <a:ln>
            <a:noFill/>
          </a:ln>
        </p:spPr>
        <p:txBody>
          <a:bodyPr wrap="square" lIns="0" tIns="0" rIns="0" bIns="0" rtlCol="0" anchor="t">
            <a:noAutofit/>
          </a:bodyPr>
          <a:lstStyle/>
          <a:p>
            <a:pPr marL="0" indent="0" algn="l">
              <a:lnSpc>
                <a:spcPct val="100000"/>
              </a:lnSpc>
              <a:spcBef>
                <a:spcPts val="0"/>
              </a:spcBef>
              <a:spcAft>
                <a:spcPts val="600"/>
              </a:spcAft>
              <a:buNone/>
            </a:pPr>
            <a:r>
              <a:rPr lang="en-US" sz="2400" b="1" i="0" dirty="0">
                <a:solidFill>
                  <a:srgbClr val="C00000"/>
                </a:solidFill>
                <a:latin typeface="+mn-lt"/>
              </a:rPr>
              <a:t>Software</a:t>
            </a:r>
          </a:p>
          <a:p>
            <a:pPr marL="285750" indent="-285750" algn="l">
              <a:lnSpc>
                <a:spcPct val="100000"/>
              </a:lnSpc>
              <a:spcBef>
                <a:spcPts val="0"/>
              </a:spcBef>
              <a:spcAft>
                <a:spcPts val="700"/>
              </a:spcAft>
              <a:buClr>
                <a:srgbClr val="262626"/>
              </a:buClr>
              <a:buFont typeface="Arial"/>
              <a:buChar char="•"/>
            </a:pPr>
            <a:r>
              <a:rPr lang="en-US" sz="2000" b="0" i="0" dirty="0">
                <a:solidFill>
                  <a:srgbClr val="262626"/>
                </a:solidFill>
                <a:latin typeface="+mn-lt"/>
              </a:rPr>
              <a:t>Java JDK</a:t>
            </a:r>
          </a:p>
          <a:p>
            <a:pPr marL="285750" indent="-285750" algn="l">
              <a:lnSpc>
                <a:spcPct val="100000"/>
              </a:lnSpc>
              <a:spcBef>
                <a:spcPts val="0"/>
              </a:spcBef>
              <a:spcAft>
                <a:spcPts val="700"/>
              </a:spcAft>
              <a:buClr>
                <a:srgbClr val="262626"/>
              </a:buClr>
              <a:buFont typeface="Arial"/>
              <a:buChar char="•"/>
            </a:pPr>
            <a:r>
              <a:rPr lang="en-US" sz="2000" b="0" i="0" dirty="0">
                <a:solidFill>
                  <a:srgbClr val="262626"/>
                </a:solidFill>
                <a:latin typeface="+mn-lt"/>
              </a:rPr>
              <a:t>VS Code or terminal</a:t>
            </a:r>
          </a:p>
          <a:p>
            <a:pPr marL="285750" indent="-285750" algn="l">
              <a:lnSpc>
                <a:spcPct val="100000"/>
              </a:lnSpc>
              <a:spcBef>
                <a:spcPts val="0"/>
              </a:spcBef>
              <a:spcAft>
                <a:spcPts val="700"/>
              </a:spcAft>
              <a:buClr>
                <a:srgbClr val="262626"/>
              </a:buClr>
              <a:buFont typeface="Arial"/>
              <a:buChar char="•"/>
            </a:pPr>
            <a:r>
              <a:rPr lang="en-US" sz="2000" b="0" i="0" dirty="0">
                <a:solidFill>
                  <a:srgbClr val="262626"/>
                </a:solidFill>
                <a:latin typeface="+mn-lt"/>
              </a:rPr>
              <a:t>run.bat (Windows) or run.sh (Linux, macOS)</a:t>
            </a:r>
          </a:p>
          <a:p>
            <a:pPr marL="285750" indent="-285750" algn="l">
              <a:lnSpc>
                <a:spcPct val="100000"/>
              </a:lnSpc>
              <a:spcBef>
                <a:spcPts val="0"/>
              </a:spcBef>
              <a:spcAft>
                <a:spcPts val="700"/>
              </a:spcAft>
              <a:buClr>
                <a:srgbClr val="262626"/>
              </a:buClr>
              <a:buFont typeface="Arial"/>
              <a:buChar char="•"/>
            </a:pPr>
            <a:r>
              <a:rPr lang="en-US" sz="2000" b="0" i="0" dirty="0">
                <a:solidFill>
                  <a:srgbClr val="262626"/>
                </a:solidFill>
                <a:latin typeface="+mn-lt"/>
              </a:rPr>
              <a:t>Web browser (localhost:8080)</a:t>
            </a:r>
          </a:p>
          <a:p>
            <a:pPr marL="285750" indent="-285750" algn="l">
              <a:lnSpc>
                <a:spcPct val="100000"/>
              </a:lnSpc>
              <a:spcBef>
                <a:spcPts val="0"/>
              </a:spcBef>
              <a:spcAft>
                <a:spcPts val="700"/>
              </a:spcAft>
              <a:buClr>
                <a:srgbClr val="262626"/>
              </a:buClr>
              <a:buFont typeface="Arial"/>
              <a:buChar char="•"/>
            </a:pPr>
            <a:r>
              <a:rPr lang="en-US" sz="2000" b="0" i="0" dirty="0">
                <a:solidFill>
                  <a:srgbClr val="262626"/>
                </a:solidFill>
                <a:latin typeface="+mn-lt"/>
              </a:rPr>
              <a:t>No extra libraries, data in CSV files</a:t>
            </a:r>
          </a:p>
        </p:txBody>
      </p:sp>
    </p:spTree>
    <p:extLst>
      <p:ext uri="{BB962C8B-B14F-4D97-AF65-F5344CB8AC3E}">
        <p14:creationId xmlns:p14="http://schemas.microsoft.com/office/powerpoint/2010/main" val="2292750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101" name="Conclusion text 101"/>
          <p:cNvSpPr txBox="1"/>
          <p:nvPr/>
        </p:nvSpPr>
        <p:spPr>
          <a:xfrm>
            <a:off x="3200000" y="1550000"/>
            <a:ext cx="8000000" cy="4700000"/>
          </a:xfrm>
          <a:prstGeom prst="rect">
            <a:avLst/>
          </a:prstGeom>
          <a:noFill/>
          <a:ln>
            <a:noFill/>
          </a:ln>
        </p:spPr>
        <p:txBody>
          <a:bodyPr wrap="square" lIns="0" tIns="0" rIns="0" bIns="0" rtlCol="0" anchor="t">
            <a:noAutofit/>
          </a:bodyPr>
          <a:lstStyle/>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We built a warehouse inventory system with a web page and a terminal menu.</a:t>
            </a:r>
          </a:p>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Each module solves a real warehouse job using a DSA algorithm: knapsack for budget, max flow for moving stock, set cover for suppliers.</a:t>
            </a:r>
          </a:p>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All 23 tests passed.</a:t>
            </a:r>
          </a:p>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It handled a 10 million row file in a few seconds (5.7 s for aggregation).</a:t>
            </a:r>
          </a:p>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Admin and staff logins, and both interfaces share the same CSV data.</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101" name="Future text 101"/>
          <p:cNvSpPr txBox="1"/>
          <p:nvPr/>
        </p:nvSpPr>
        <p:spPr>
          <a:xfrm>
            <a:off x="3200000" y="1550000"/>
            <a:ext cx="8000000" cy="4700000"/>
          </a:xfrm>
          <a:prstGeom prst="rect">
            <a:avLst/>
          </a:prstGeom>
          <a:noFill/>
          <a:ln>
            <a:noFill/>
          </a:ln>
        </p:spPr>
        <p:txBody>
          <a:bodyPr wrap="square" lIns="0" tIns="0" rIns="0" bIns="0" rtlCol="0" anchor="t">
            <a:noAutofit/>
          </a:bodyPr>
          <a:lstStyle/>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Use a database instead of CSV files so many users can write safely</a:t>
            </a:r>
          </a:p>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Predict demand to set minimum stock levels</a:t>
            </a:r>
          </a:p>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Barcode or RFID scanning for live stock updates</a:t>
            </a:r>
          </a:p>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Add shipping cost and time to stock transfers (min-cost flow)</a:t>
            </a:r>
          </a:p>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Low stock alerts and a mobile app</a:t>
            </a:r>
          </a:p>
          <a:p>
            <a:pPr marL="285750" indent="-285750" algn="l">
              <a:lnSpc>
                <a:spcPct val="100000"/>
              </a:lnSpc>
              <a:spcBef>
                <a:spcPts val="0"/>
              </a:spcBef>
              <a:spcAft>
                <a:spcPts val="1000"/>
              </a:spcAft>
              <a:buClr>
                <a:srgbClr val="262626"/>
              </a:buClr>
              <a:buFont typeface="Arial"/>
              <a:buChar char="•"/>
            </a:pPr>
            <a:r>
              <a:rPr lang="en-US" sz="2200" b="0" i="0" dirty="0">
                <a:solidFill>
                  <a:srgbClr val="262626"/>
                </a:solidFill>
                <a:latin typeface="+mn-lt"/>
              </a:rPr>
              <a:t>Run the big file analysis on many machines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59</Words>
  <Application>Microsoft Office PowerPoint</Application>
  <PresentationFormat>Widescreen</PresentationFormat>
  <Paragraphs>25</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Gautami</vt:lpstr>
      <vt:lpstr>Times New Roman</vt:lpstr>
      <vt:lpstr>Office Theme</vt:lpstr>
      <vt:lpstr>       Data Structures and Algorithms -3 (25CS2103E)  Title of the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ANITHA CHEKURI</cp:lastModifiedBy>
  <cp:revision>19</cp:revision>
  <dcterms:created xsi:type="dcterms:W3CDTF">2024-08-29T05:25:00Z</dcterms:created>
  <dcterms:modified xsi:type="dcterms:W3CDTF">2026-08-20T05:50:30Z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